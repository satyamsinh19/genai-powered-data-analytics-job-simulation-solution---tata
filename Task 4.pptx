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89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77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577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52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260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61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12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700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83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198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652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473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3738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31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920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683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6012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02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B6A17-30DC-4B60-8837-0C8C4E8A2109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DE048-6F0F-4BE7-B34B-3B44E09E3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2023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357937-C439-7C71-3B36-58C20CE62570}"/>
              </a:ext>
            </a:extLst>
          </p:cNvPr>
          <p:cNvSpPr/>
          <p:nvPr/>
        </p:nvSpPr>
        <p:spPr>
          <a:xfrm>
            <a:off x="734785" y="1676400"/>
            <a:ext cx="10722429" cy="1752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/>
          <a:effectLst>
            <a:softEdge rad="635000"/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+mj-lt"/>
              </a:rPr>
              <a:t>The Future of Collections: Ethical AI in Action</a:t>
            </a:r>
            <a:endParaRPr lang="en-IN" sz="4400" dirty="0">
              <a:latin typeface="+mj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4EC015-B908-BBA1-5B40-FB84172D72A1}"/>
              </a:ext>
            </a:extLst>
          </p:cNvPr>
          <p:cNvSpPr/>
          <p:nvPr/>
        </p:nvSpPr>
        <p:spPr>
          <a:xfrm>
            <a:off x="2286000" y="3918857"/>
            <a:ext cx="9171214" cy="126274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softEdge rad="635000"/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+mj-lt"/>
              </a:rPr>
              <a:t>Predict. Intervene. Improve. Responsibly.</a:t>
            </a:r>
          </a:p>
        </p:txBody>
      </p:sp>
    </p:spTree>
    <p:extLst>
      <p:ext uri="{BB962C8B-B14F-4D97-AF65-F5344CB8AC3E}">
        <p14:creationId xmlns:p14="http://schemas.microsoft.com/office/powerpoint/2010/main" val="1034693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DC753-9E64-E65B-98BE-D8554AC7F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571" y="687675"/>
            <a:ext cx="9601200" cy="132805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/>
              <a:t>AI-Powered Collections System: End</a:t>
            </a:r>
            <a:br>
              <a:rPr lang="en-US" sz="3600" b="1" dirty="0"/>
            </a:br>
            <a:r>
              <a:rPr lang="en-US" sz="3600" b="1" dirty="0"/>
              <a:t>-to-End Workflow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BB624-A55C-5590-228D-6A929215F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9571" y="2015732"/>
            <a:ext cx="9601200" cy="3450613"/>
          </a:xfrm>
        </p:spPr>
        <p:txBody>
          <a:bodyPr/>
          <a:lstStyle/>
          <a:p>
            <a:r>
              <a:rPr lang="en-IN" b="1" dirty="0">
                <a:latin typeface="Arial Rounded MT Bold" panose="020F0704030504030204" pitchFamily="34" charset="0"/>
              </a:rPr>
              <a:t>Data Ingestion</a:t>
            </a:r>
            <a:r>
              <a:rPr lang="en-IN" dirty="0">
                <a:latin typeface="Arial Rounded MT Bold" panose="020F0704030504030204" pitchFamily="34" charset="0"/>
              </a:rPr>
              <a:t> – Demographics, credit behaviour, CRM &amp; real-time payment updates</a:t>
            </a:r>
          </a:p>
          <a:p>
            <a:r>
              <a:rPr lang="en-IN" b="1" dirty="0">
                <a:latin typeface="Arial Rounded MT Bold" panose="020F0704030504030204" pitchFamily="34" charset="0"/>
              </a:rPr>
              <a:t>Risk Prediction</a:t>
            </a:r>
            <a:r>
              <a:rPr lang="en-IN" dirty="0">
                <a:latin typeface="Arial Rounded MT Bold" panose="020F0704030504030204" pitchFamily="34" charset="0"/>
              </a:rPr>
              <a:t> – ML model scores delinquency; segments customers (Low/Med/High)</a:t>
            </a:r>
          </a:p>
          <a:p>
            <a:r>
              <a:rPr lang="en-IN" b="1" dirty="0">
                <a:latin typeface="Arial Rounded MT Bold" panose="020F0704030504030204" pitchFamily="34" charset="0"/>
              </a:rPr>
              <a:t>Targeted Actions</a:t>
            </a:r>
            <a:r>
              <a:rPr lang="en-IN" dirty="0">
                <a:latin typeface="Arial Rounded MT Bold" panose="020F0704030504030204" pitchFamily="34" charset="0"/>
              </a:rPr>
              <a:t> – Automated reminders, restructuring, personalized repayment plans</a:t>
            </a:r>
          </a:p>
          <a:p>
            <a:r>
              <a:rPr lang="en-IN" b="1" dirty="0">
                <a:latin typeface="Arial Rounded MT Bold" panose="020F0704030504030204" pitchFamily="34" charset="0"/>
              </a:rPr>
              <a:t>Learning Loop</a:t>
            </a:r>
            <a:r>
              <a:rPr lang="en-IN" dirty="0">
                <a:latin typeface="Arial Rounded MT Bold" panose="020F0704030504030204" pitchFamily="34" charset="0"/>
              </a:rPr>
              <a:t> – Feedback + outcomes → model retraining &amp; quarterly fairness audits</a:t>
            </a:r>
          </a:p>
          <a:p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93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09E84-0E6F-CBDE-1491-FBCD4256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40846"/>
            <a:ext cx="9603275" cy="806211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System Flow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2CD07C-A3E6-1FC4-61D0-67836745191B}"/>
              </a:ext>
            </a:extLst>
          </p:cNvPr>
          <p:cNvSpPr/>
          <p:nvPr/>
        </p:nvSpPr>
        <p:spPr>
          <a:xfrm>
            <a:off x="254150" y="947057"/>
            <a:ext cx="3327250" cy="13280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rial Rounded MT Bold" panose="020F0704030504030204" pitchFamily="34" charset="0"/>
              </a:rPr>
              <a:t>Risk Scoring</a:t>
            </a:r>
          </a:p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Predict risk level using machine learning models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C2207-90F9-2CF3-6F35-1DD69DD995E1}"/>
              </a:ext>
            </a:extLst>
          </p:cNvPr>
          <p:cNvSpPr/>
          <p:nvPr/>
        </p:nvSpPr>
        <p:spPr>
          <a:xfrm>
            <a:off x="2692550" y="2450543"/>
            <a:ext cx="3719136" cy="11935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rial Rounded MT Bold" panose="020F0704030504030204" pitchFamily="34" charset="0"/>
              </a:rPr>
              <a:t>Segmentation</a:t>
            </a:r>
          </a:p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Group individuals based on risk and </a:t>
            </a:r>
            <a:r>
              <a:rPr lang="en-US" sz="2000" dirty="0" err="1">
                <a:latin typeface="Arial Rounded MT Bold" panose="020F0704030504030204" pitchFamily="34" charset="0"/>
              </a:rPr>
              <a:t>behaviour</a:t>
            </a:r>
            <a:r>
              <a:rPr lang="en-US" sz="2000" dirty="0">
                <a:latin typeface="Arial Rounded MT Bold" panose="020F0704030504030204" pitchFamily="34" charset="0"/>
              </a:rPr>
              <a:t> patterns</a:t>
            </a:r>
            <a:r>
              <a:rPr lang="en-US" sz="2000" dirty="0"/>
              <a:t>.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28C32-D407-7253-D6E3-E55D9D748F96}"/>
              </a:ext>
            </a:extLst>
          </p:cNvPr>
          <p:cNvSpPr/>
          <p:nvPr/>
        </p:nvSpPr>
        <p:spPr>
          <a:xfrm>
            <a:off x="5671457" y="3775497"/>
            <a:ext cx="3603059" cy="11935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rial Rounded MT Bold" panose="020F0704030504030204" pitchFamily="34" charset="0"/>
              </a:rPr>
              <a:t>Intervention</a:t>
            </a:r>
          </a:p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Apply targeted actions to reduce identified risks.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5B4D09-2676-225C-B3F6-289B86E4CF49}"/>
              </a:ext>
            </a:extLst>
          </p:cNvPr>
          <p:cNvSpPr/>
          <p:nvPr/>
        </p:nvSpPr>
        <p:spPr>
          <a:xfrm>
            <a:off x="8142515" y="5100451"/>
            <a:ext cx="3947848" cy="13772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Arial Rounded MT Bold" panose="020F0704030504030204" pitchFamily="34" charset="0"/>
              </a:rPr>
              <a:t>Feedback Loop</a:t>
            </a:r>
          </a:p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Monitor outcomes and retrain models for improvement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B2BBD8B-C749-7E44-8BB2-7B4F7B967E6F}"/>
              </a:ext>
            </a:extLst>
          </p:cNvPr>
          <p:cNvCxnSpPr>
            <a:cxnSpLocks/>
            <a:stCxn id="6" idx="2"/>
            <a:endCxn id="5" idx="1"/>
          </p:cNvCxnSpPr>
          <p:nvPr/>
        </p:nvCxnSpPr>
        <p:spPr>
          <a:xfrm rot="16200000" flipH="1">
            <a:off x="1919053" y="2273835"/>
            <a:ext cx="772218" cy="774775"/>
          </a:xfrm>
          <a:prstGeom prst="bentConnector2">
            <a:avLst/>
          </a:prstGeom>
          <a:ln w="28575">
            <a:solidFill>
              <a:schemeClr val="bg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2CBCFDA3-45F3-5051-6356-AE9682815E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97961" y="3642843"/>
            <a:ext cx="772218" cy="774775"/>
          </a:xfrm>
          <a:prstGeom prst="bentConnector2">
            <a:avLst/>
          </a:prstGeom>
          <a:ln w="28575">
            <a:solidFill>
              <a:schemeClr val="bg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9773218-1C50-CBAC-C17E-E416F31EE55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69019" y="4967796"/>
            <a:ext cx="772218" cy="774775"/>
          </a:xfrm>
          <a:prstGeom prst="bentConnector2">
            <a:avLst/>
          </a:prstGeom>
          <a:ln w="28575">
            <a:solidFill>
              <a:schemeClr val="bg1">
                <a:lumMod val="95000"/>
                <a:lumOff val="5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85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B132-E945-6783-EB38-91F063A9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Autonomy vs. Human Oversight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43116-3425-48E1-5BED-950066178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841" y="2088320"/>
            <a:ext cx="5107207" cy="676651"/>
          </a:xfrm>
        </p:spPr>
        <p:txBody>
          <a:bodyPr/>
          <a:lstStyle/>
          <a:p>
            <a:pPr algn="ctr"/>
            <a:r>
              <a:rPr lang="en-IN" dirty="0"/>
              <a:t>Autonomous Activities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38527-677C-039C-9FF6-C52D4E902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4492" y="2912232"/>
            <a:ext cx="5107208" cy="2878968"/>
          </a:xfrm>
        </p:spPr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Risk scoring via predictive model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Automated outreach (email/SMS nudges)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Monitoring repayment behaviour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Retraining model with anonymized feedback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42B0D-8DBC-E80A-C90C-2E03A80A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0349" y="2088320"/>
            <a:ext cx="5107208" cy="676651"/>
          </a:xfrm>
        </p:spPr>
        <p:txBody>
          <a:bodyPr/>
          <a:lstStyle/>
          <a:p>
            <a:pPr algn="ctr"/>
            <a:r>
              <a:rPr lang="en-IN" dirty="0"/>
              <a:t>Human Oversight Required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3C390B-41B7-1717-ECE8-DE96F5F94E1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Reviewing flagged edge cases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Approving restructuring plans for high-risk cases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Handling disputes or complaints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Conducting fairness and compliance audits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60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E69735-480B-4A42-C671-A6F2D231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Ethical &amp; Regulatory Safeguards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4A0C0AF-2FFE-8237-225A-0A27F1D603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9119" y="2331917"/>
            <a:ext cx="10353761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Fairness Audits: Regular bias checks across income, gender, geography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effectLst/>
              <a:latin typeface="Arial Rounded MT Bold" panose="020F07040305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Explainability Tools: Feature importance dashboards for internal teams. Transparent logic for customer-facing decisions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b="1" dirty="0">
              <a:effectLst/>
              <a:latin typeface="Arial Rounded MT Bold" panose="020F07040305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Compliance Monitoring: Alignment with RBI, GDPR, ECOA, and internal policies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effectLst/>
              <a:latin typeface="Arial Rounded MT Bold" panose="020F07040305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Human-in-the-Loop: Manual review of sensitive or disputed decisions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397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5B2C-D634-7EDE-B67F-58E59D4E7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&amp; Customer Outcomes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B76D9F3-D647-4535-E373-D70E257B0F7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924444" y="1935921"/>
            <a:ext cx="5040691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15–20% reduction in delinquency rates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effectLst/>
              <a:latin typeface="Arial Rounded MT Bold" panose="020F07040305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25% increase in repayment plan uptake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effectLst/>
              <a:latin typeface="Arial Rounded MT Bold" panose="020F07040305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30% lower operational costs via automation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effectLst/>
              <a:latin typeface="Arial Rounded MT Bold" panose="020F07040305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Improved model accuracy and responsiveness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A109607-BD9A-D51E-49BE-8F6328B0058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26867" y="1935921"/>
            <a:ext cx="561633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Arial Rounded MT Bold" panose="020F0704030504030204" pitchFamily="34" charset="0"/>
              </a:rPr>
              <a:t>Personalized support and repayment options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effectLst/>
              <a:latin typeface="Arial Rounded MT Bold" panose="020F07040305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dirty="0">
                <a:effectLst/>
                <a:latin typeface="Arial Rounded MT Bold" panose="020F0704030504030204" pitchFamily="34" charset="0"/>
              </a:rPr>
              <a:t>Fairer treatment across demographics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IN" altLang="en-US" dirty="0">
              <a:effectLst/>
              <a:latin typeface="Arial Rounded MT Bold" panose="020F07040305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Arial Rounded MT Bold" panose="020F0704030504030204" pitchFamily="34" charset="0"/>
              </a:rPr>
              <a:t>Transparent communication of risks and decisions.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effectLst/>
              <a:latin typeface="Arial Rounded MT Bold" panose="020F07040305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Arial Rounded MT Bold" panose="020F0704030504030204" pitchFamily="34" charset="0"/>
              </a:rPr>
              <a:t>Increased trust and  financial literacy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34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05264-FE85-E86E-DF1B-0393E0DB5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Strategic Vision for AI-Powered Collections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24EB6C-F634-729E-A9DB-C1A6634EAF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681749"/>
            <a:ext cx="7731219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Scalable, adaptive collections system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effectLst/>
              <a:latin typeface="Arial Rounded MT Bold" panose="020F07040305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Balances automation with ethical oversight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effectLst/>
              <a:latin typeface="Arial Rounded MT Bold" panose="020F07040305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Drives business outcomes while enhancing customer trust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effectLst/>
              <a:latin typeface="Arial Rounded MT Bold" panose="020F07040305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Positioned for long-term sustainability and compliance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557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87</TotalTime>
  <Words>303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Rounded MT Bold</vt:lpstr>
      <vt:lpstr>Bookman Old Style</vt:lpstr>
      <vt:lpstr>Rockwell</vt:lpstr>
      <vt:lpstr>Damask</vt:lpstr>
      <vt:lpstr>PowerPoint Presentation</vt:lpstr>
      <vt:lpstr>AI-Powered Collections System: End -to-End Workflow </vt:lpstr>
      <vt:lpstr>System Flow Diagram</vt:lpstr>
      <vt:lpstr>Autonomy vs. Human Oversight</vt:lpstr>
      <vt:lpstr>Ethical &amp; Regulatory Safeguards</vt:lpstr>
      <vt:lpstr>Business &amp; Customer Outcomes</vt:lpstr>
      <vt:lpstr>Strategic Vision for AI-Powered Collections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Satyam Kumar</dc:creator>
  <cp:lastModifiedBy>Satyam Kumar</cp:lastModifiedBy>
  <cp:revision>2</cp:revision>
  <dcterms:created xsi:type="dcterms:W3CDTF">2025-08-28T09:57:16Z</dcterms:created>
  <dcterms:modified xsi:type="dcterms:W3CDTF">2025-08-28T12:10:22Z</dcterms:modified>
</cp:coreProperties>
</file>